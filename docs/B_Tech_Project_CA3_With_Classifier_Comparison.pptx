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1" name="Google Shape;9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508" y="2577061"/>
            <a:ext cx="3344638" cy="13597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447800" y="206827"/>
            <a:ext cx="62592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Tech. Project AY 202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436914" y="829881"/>
            <a:ext cx="62592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Presentation (CA-3)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436914" y="1970924"/>
            <a:ext cx="6259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Title of the Project: AI-Powered Intelligent Ticket Routing &amp; Resolution Agent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-364672" y="4967952"/>
            <a:ext cx="32223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Group Members:</a:t>
            </a:r>
          </a:p>
          <a:p>
            <a:r>
              <a:t>Shreyansh Pandey (PRN: ____________)</a:t>
            </a:r>
          </a:p>
          <a:p>
            <a:r>
              <a:t>Name (PRN: ____________)</a:t>
            </a:r>
          </a:p>
          <a:p>
            <a:r>
              <a:t>Name (PRN: ____________)</a:t>
            </a:r>
          </a:p>
          <a:p>
            <a:r>
              <a:t>Name (PRN: ____________)</a:t>
            </a:r>
          </a:p>
        </p:txBody>
      </p:sp>
      <p:sp>
        <p:nvSpPr>
          <p:cNvPr id="101" name="Google Shape;101;p13"/>
          <p:cNvSpPr txBox="1"/>
          <p:nvPr/>
        </p:nvSpPr>
        <p:spPr>
          <a:xfrm>
            <a:off x="2051956" y="4267018"/>
            <a:ext cx="45284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Name of the Guide: ________________</a:t>
            </a:r>
          </a:p>
        </p:txBody>
      </p:sp>
      <p:sp>
        <p:nvSpPr>
          <p:cNvPr id="102" name="Google Shape;102;p13"/>
          <p:cNvSpPr txBox="1"/>
          <p:nvPr/>
        </p:nvSpPr>
        <p:spPr>
          <a:xfrm>
            <a:off x="2051956" y="4590183"/>
            <a:ext cx="45284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Name of the Co-guide: ______________</a:t>
            </a:r>
          </a:p>
        </p:txBody>
      </p:sp>
      <p:sp>
        <p:nvSpPr>
          <p:cNvPr id="103" name="Google Shape;103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21-09-2026</a:t>
            </a:r>
            <a:endParaRPr/>
          </a:p>
        </p:txBody>
      </p:sp>
      <p:sp>
        <p:nvSpPr>
          <p:cNvPr id="104" name="Google Shape;104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457325" y="1458662"/>
            <a:ext cx="6259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Project ID: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Outline of the Presentation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487135" y="145551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Names of all the group members and their work distribution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Project plan with timeline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Gap in the Research/ Technology/ Methodology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Description of the proposed solution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Development/ Implementation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Testing &amp; Debugging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Project Outcome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A photograph of the presentation after due permission from the guide.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0" lvl="0" marL="171450" rtl="0" algn="l">
              <a:lnSpc>
                <a:spcPct val="100000"/>
              </a:lnSpc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-09-2026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System Architecture Overview</a:t>
            </a:r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sz="1600">
                <a:latin typeface="Times New Roman"/>
              </a:rPr>
              <a:t>Ticket Submitted (Employee Portal)</a:t>
            </a:r>
            <a:endParaRPr/>
          </a:p>
          <a:p>
            <a:pPr/>
            <a:r>
              <a:rPr sz="1600">
                <a:latin typeface="Times New Roman"/>
              </a:rPr>
              <a:t>  ↓  Preprocessing &amp; Embedding (MiniLM-L6-v2)</a:t>
            </a:r>
          </a:p>
          <a:p>
            <a:pPr/>
            <a:r>
              <a:rPr sz="1600">
                <a:latin typeface="Times New Roman"/>
              </a:rPr>
              <a:t>  ↓  Classification (LogReg / SetFit) + Confidence</a:t>
            </a:r>
          </a:p>
          <a:p>
            <a:pPr/>
            <a:r>
              <a:rPr sz="1600">
                <a:latin typeface="Times New Roman"/>
              </a:rPr>
              <a:t>  ↓  Routing (Category → Department)</a:t>
            </a:r>
          </a:p>
          <a:p>
            <a:pPr/>
            <a:r>
              <a:rPr sz="1600">
                <a:latin typeface="Times New Roman"/>
              </a:rPr>
              <a:t>  ↓  RAG Retrieval (ChromaDB — train tickets only)</a:t>
            </a:r>
          </a:p>
          <a:p>
            <a:pPr/>
            <a:r>
              <a:rPr sz="1600">
                <a:latin typeface="Times New Roman"/>
              </a:rPr>
              <a:t>  ↓  LangGraph Decision Agent</a:t>
            </a:r>
          </a:p>
          <a:p>
            <a:pPr/>
            <a:r>
              <a:rPr sz="1600">
                <a:latin typeface="Times New Roman"/>
              </a:rPr>
              <a:t>  ↓  Auto-Resolve (high confidence)  |  Escalate (low confidence)</a:t>
            </a:r>
          </a:p>
          <a:p>
            <a:pPr/>
            <a:r>
              <a:rPr sz="1600">
                <a:latin typeface="Times New Roman"/>
              </a:rPr>
              <a:t>  ↓  Resolution shown to user          |  Agent queue for human review</a:t>
            </a:r>
          </a:p>
        </p:txBody>
      </p:sp>
      <p:sp>
        <p:nvSpPr>
          <p:cNvPr id="122" name="Google Shape;12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03-10-2025</a:t>
            </a:r>
            <a:endParaRPr/>
          </a:p>
        </p:txBody>
      </p:sp>
      <p:sp>
        <p:nvSpPr>
          <p:cNvPr id="123" name="Google Shape;12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 &amp; Work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Shreyansh Pandey — Project lead, ML pipeline, API &amp; frontend integration</a:t>
            </a:r>
          </a:p>
          <a:p>
            <a:pPr/>
            <a:r>
              <a:rPr sz="1800">
                <a:latin typeface="Times New Roman"/>
              </a:rPr>
              <a:t>Member 2 — Dataset generation, data preprocessing &amp; validation</a:t>
            </a:r>
          </a:p>
          <a:p>
            <a:pPr/>
            <a:r>
              <a:rPr sz="1800">
                <a:latin typeface="Times New Roman"/>
              </a:rPr>
              <a:t>Member 3 — Model training, evaluation &amp; documentation</a:t>
            </a:r>
          </a:p>
          <a:p>
            <a:pPr/>
            <a:r>
              <a:rPr sz="1800">
                <a:latin typeface="Times New Roman"/>
              </a:rPr>
              <a:t>Member 4 — Testing, UI development &amp; deployment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Note: Update names and PRNs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IT service desks receive thousands of support tickets daily.</a:t>
            </a:r>
          </a:p>
          <a:p>
            <a:pPr/>
            <a:r>
              <a:rPr sz="1800">
                <a:latin typeface="Times New Roman"/>
              </a:rPr>
              <a:t>Manual triaging causes misrouting, slow resolution, and repeated fixes.</a:t>
            </a:r>
          </a:p>
          <a:p>
            <a:pPr/>
            <a:r>
              <a:rPr sz="1800">
                <a:latin typeface="Times New Roman"/>
              </a:rPr>
              <a:t>Inspired by NASSCOM Hackathon use case: Intelligent Ticket Routing Agent.</a:t>
            </a:r>
          </a:p>
          <a:p>
            <a:pPr/>
            <a:r>
              <a:rPr sz="1800">
                <a:latin typeface="Times New Roman"/>
              </a:rPr>
              <a:t>We built an end-to-end AI system that classifies, routes, retrieves resolutions, and escalates when uncertain.</a:t>
            </a:r>
          </a:p>
          <a:p>
            <a:pPr/>
            <a:r>
              <a:rPr sz="1800">
                <a:latin typeface="Times New Roman"/>
              </a:rPr>
              <a:t>Tech stack: NLP, Sentence Transformers, RAG (ChromaDB), LangGraph, FastAPI.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Misrouted tickets sent to wrong departments (Network vs Database, Security vs Access).</a:t>
            </a:r>
          </a:p>
          <a:p>
            <a:pPr/>
            <a:r>
              <a:rPr sz="1800">
                <a:latin typeface="Times New Roman"/>
              </a:rPr>
              <a:t>Slow resolution due to manual categorization and triaging.</a:t>
            </a:r>
          </a:p>
          <a:p>
            <a:pPr/>
            <a:r>
              <a:rPr sz="1800">
                <a:latin typeface="Times New Roman"/>
              </a:rPr>
              <a:t>Inconsistent classification across support agents.</a:t>
            </a:r>
          </a:p>
          <a:p>
            <a:pPr/>
            <a:r>
              <a:rPr sz="1800">
                <a:latin typeface="Times New Roman"/>
              </a:rPr>
              <a:t>Past resolutions not reused — same issues solved from scratch.</a:t>
            </a:r>
          </a:p>
          <a:p>
            <a:pPr/>
            <a:r>
              <a:rPr sz="1800">
                <a:latin typeface="Times New Roman"/>
              </a:rPr>
              <a:t>No confidence-aware mechanism to decide auto-resolve vs human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Automatically classify IT tickets into 7 categories with confidence scores.</a:t>
            </a:r>
          </a:p>
          <a:p>
            <a:pPr/>
            <a:r>
              <a:rPr sz="1800">
                <a:latin typeface="Times New Roman"/>
              </a:rPr>
              <a:t>Route tickets to the correct support department.</a:t>
            </a:r>
          </a:p>
          <a:p>
            <a:pPr/>
            <a:r>
              <a:rPr sz="1800">
                <a:latin typeface="Times New Roman"/>
              </a:rPr>
              <a:t>Retrieve similar past tickets using RAG for resolution suggestions.</a:t>
            </a:r>
          </a:p>
          <a:p>
            <a:pPr/>
            <a:r>
              <a:rPr sz="1800">
                <a:latin typeface="Times New Roman"/>
              </a:rPr>
              <a:t>Escalate to human agents when classifier or retrieval confidence is low.</a:t>
            </a:r>
          </a:p>
          <a:p>
            <a:pPr/>
            <a:r>
              <a:rPr sz="1800">
                <a:latin typeface="Times New Roman"/>
              </a:rPr>
              <a:t>Evaluate multiple ML models (baselines, LogReg, SVM, SetFit).</a:t>
            </a:r>
          </a:p>
          <a:p>
            <a:pPr/>
            <a:r>
              <a:rPr sz="1800">
                <a:latin typeface="Times New Roman"/>
              </a:rPr>
              <a:t>Build a working web portal for employees, agents, and admin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 with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Phase 1 (Done) — Dataset generation via Gemini API (~994 tickets, 7 categories)</a:t>
            </a:r>
          </a:p>
          <a:p>
            <a:pPr/>
            <a:r>
              <a:rPr sz="1800">
                <a:latin typeface="Times New Roman"/>
              </a:rPr>
              <a:t>Phase 2 (Done) — Model training: TF-IDF+NB, Embeddings+LogReg/SVM, SetFit</a:t>
            </a:r>
          </a:p>
          <a:p>
            <a:pPr/>
            <a:r>
              <a:rPr sz="1800">
                <a:latin typeface="Times New Roman"/>
              </a:rPr>
              <a:t>Phase 3 (Done) — RAG knowledge base (ChromaDB) + leakage fix (train-only index)</a:t>
            </a:r>
          </a:p>
          <a:p>
            <a:pPr/>
            <a:r>
              <a:rPr sz="1800">
                <a:latin typeface="Times New Roman"/>
              </a:rPr>
              <a:t>Phase 4 (Done) — LangGraph agent: classify → route → retrieve → decide</a:t>
            </a:r>
          </a:p>
          <a:p>
            <a:pPr/>
            <a:r>
              <a:rPr sz="1800">
                <a:latin typeface="Times New Roman"/>
              </a:rPr>
              <a:t>Phase 5 (Done) — FastAPI backend + Employee/Agent/Admin frontend</a:t>
            </a:r>
          </a:p>
          <a:p>
            <a:pPr/>
            <a:r>
              <a:rPr sz="1800">
                <a:latin typeface="Times New Roman"/>
              </a:rPr>
              <a:t>Phase 6 (In Progress) — Scale dataset to 4k–5k, feedback loop,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Ticket classification: TF-IDF + traditional ML vs transformer embeddings.</a:t>
            </a:r>
          </a:p>
          <a:p>
            <a:pPr/>
            <a:r>
              <a:rPr sz="1800">
                <a:latin typeface="Times New Roman"/>
              </a:rPr>
              <a:t>Sentence-BERT / MiniLM for semantic text representation in short text tasks.</a:t>
            </a:r>
          </a:p>
          <a:p>
            <a:pPr/>
            <a:r>
              <a:rPr sz="1800">
                <a:latin typeface="Times New Roman"/>
              </a:rPr>
              <a:t>SetFit: contrastive fine-tuning for few-shot text classification.</a:t>
            </a:r>
          </a:p>
          <a:p>
            <a:pPr/>
            <a:r>
              <a:rPr sz="1800">
                <a:latin typeface="Times New Roman"/>
              </a:rPr>
              <a:t>RAG: retrieval-augmented generation for knowledge-grounded support answers.</a:t>
            </a:r>
          </a:p>
          <a:p>
            <a:pPr/>
            <a:r>
              <a:rPr sz="1800">
                <a:latin typeface="Times New Roman"/>
              </a:rPr>
              <a:t>ITSM automation: routing rules, confidence thresholds, human-in-the-loop escalation.</a:t>
            </a:r>
          </a:p>
          <a:p>
            <a:pPr/>
            <a:r>
              <a:rPr sz="1800">
                <a:latin typeface="Times New Roman"/>
              </a:rPr>
              <a:t>Agentic workflows: LangGraph for multi-step decision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in Research / Technology /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Most systems use keyword matching or single-model classification without retrieval.</a:t>
            </a:r>
          </a:p>
          <a:p>
            <a:pPr/>
            <a:r>
              <a:rPr sz="1800">
                <a:latin typeface="Times New Roman"/>
              </a:rPr>
              <a:t>Few combine classification confidence + RAG similarity for escalation decisions.</a:t>
            </a:r>
          </a:p>
          <a:p>
            <a:pPr/>
            <a:r>
              <a:rPr sz="1800">
                <a:latin typeface="Times New Roman"/>
              </a:rPr>
              <a:t>Evaluation leakage in RAG systems often inflates retrieval scores on test data.</a:t>
            </a:r>
          </a:p>
          <a:p>
            <a:pPr/>
            <a:r>
              <a:rPr sz="1800">
                <a:latin typeface="Times New Roman"/>
              </a:rPr>
              <a:t>Small synthetic datasets limit fine-tuned models (SetFit overfits on val, not test).</a:t>
            </a:r>
          </a:p>
          <a:p>
            <a:pPr/>
            <a:r>
              <a:rPr sz="1800">
                <a:latin typeface="Times New Roman"/>
              </a:rPr>
              <a:t>Lack of calibration-aware escalation in typical ITSM rule engines.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of the 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Hybrid AI pipeline: Classification + Routing + RAG + Agentic Decision.</a:t>
            </a:r>
          </a:p>
          <a:p>
            <a:pPr/>
            <a:r>
              <a:rPr sz="1800">
                <a:latin typeface="Times New Roman"/>
              </a:rPr>
              <a:t>Step 1: Preprocess ticket (title + description) → embedding.</a:t>
            </a:r>
          </a:p>
          <a:p>
            <a:pPr/>
            <a:r>
              <a:rPr sz="1800">
                <a:latin typeface="Times New Roman"/>
              </a:rPr>
              <a:t>Step 2: Classify category (LogReg or SetFit) → confidence score.</a:t>
            </a:r>
          </a:p>
          <a:p>
            <a:pPr/>
            <a:r>
              <a:rPr sz="1800">
                <a:latin typeface="Times New Roman"/>
              </a:rPr>
              <a:t>Step 3: Map category → department (7 fixed mappings).</a:t>
            </a:r>
          </a:p>
          <a:p>
            <a:pPr/>
            <a:r>
              <a:rPr sz="1800">
                <a:latin typeface="Times New Roman"/>
              </a:rPr>
              <a:t>Step 4: RAG retrieval from ChromaDB (695 train tickets only).</a:t>
            </a:r>
          </a:p>
          <a:p>
            <a:pPr/>
            <a:r>
              <a:rPr sz="1800">
                <a:latin typeface="Times New Roman"/>
              </a:rPr>
              <a:t>Step 5: LangGraph agent decides auto-resolve OR escalate using dual thresholds.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Functional: Submit ticket, view AI decision, agent queue, admin analytics.</a:t>
            </a:r>
          </a:p>
          <a:p>
            <a:pPr/>
            <a:r>
              <a:rPr sz="1800">
                <a:latin typeface="Times New Roman"/>
              </a:rPr>
              <a:t>Functional: Choose classifier model (LogReg / SetFit) per submission.</a:t>
            </a:r>
          </a:p>
          <a:p>
            <a:pPr/>
            <a:r>
              <a:rPr sz="1800">
                <a:latin typeface="Times New Roman"/>
              </a:rPr>
              <a:t>Functional: Show suggested resolution from similar past tickets.</a:t>
            </a:r>
          </a:p>
          <a:p>
            <a:pPr/>
            <a:r>
              <a:rPr sz="1800">
                <a:latin typeface="Times New Roman"/>
              </a:rPr>
              <a:t>Non-functional: Response within ~2–5 sec after model warm-up.</a:t>
            </a:r>
          </a:p>
          <a:p>
            <a:pPr/>
            <a:r>
              <a:rPr sz="1800">
                <a:latin typeface="Times New Roman"/>
              </a:rPr>
              <a:t>Non-functional: Reproducible train/val/test splits; no RAG data leakage.</a:t>
            </a:r>
          </a:p>
          <a:p>
            <a:pPr/>
            <a:r>
              <a:rPr sz="1800">
                <a:latin typeface="Times New Roman"/>
              </a:rPr>
              <a:t>Data: 994 tickets, 7 balanced categories, augmented edge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Language: Python 3.x</a:t>
            </a:r>
          </a:p>
          <a:p>
            <a:pPr/>
            <a:r>
              <a:rPr sz="1800">
                <a:latin typeface="Times New Roman"/>
              </a:rPr>
              <a:t>LLM / Data: Google Gemini API (synthetic ticket generation)</a:t>
            </a:r>
          </a:p>
          <a:p>
            <a:pPr/>
            <a:r>
              <a:rPr sz="1800">
                <a:latin typeface="Times New Roman"/>
              </a:rPr>
              <a:t>ML: scikit-learn, Sentence-Transformers (MiniLM-L6-v2), SetFit</a:t>
            </a:r>
          </a:p>
          <a:p>
            <a:pPr/>
            <a:r>
              <a:rPr sz="1800">
                <a:latin typeface="Times New Roman"/>
              </a:rPr>
              <a:t>Vector DB: ChromaDB via LangChain</a:t>
            </a:r>
          </a:p>
          <a:p>
            <a:pPr/>
            <a:r>
              <a:rPr sz="1800">
                <a:latin typeface="Times New Roman"/>
              </a:rPr>
              <a:t>Agent: LangGraph state machine</a:t>
            </a:r>
          </a:p>
          <a:p>
            <a:pPr/>
            <a:r>
              <a:rPr sz="1800">
                <a:latin typeface="Times New Roman"/>
              </a:rPr>
              <a:t>Backend: FastAPI + SQLite | Frontend: HTML/CSS/JS</a:t>
            </a:r>
          </a:p>
          <a:p>
            <a:pPr/>
            <a:r>
              <a:rPr sz="1800">
                <a:latin typeface="Times New Roman"/>
              </a:rPr>
              <a:t>Version Control: Git +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Architecture: Employee Portal → FastAPI → LangGraph Agent → Response</a:t>
            </a:r>
          </a:p>
          <a:p>
            <a:pPr/>
            <a:r>
              <a:rPr sz="1800">
                <a:latin typeface="Times New Roman"/>
              </a:rPr>
              <a:t>Agent graph: classify → route → retrieve → decide (auto-resolve / escalate)</a:t>
            </a:r>
          </a:p>
          <a:p>
            <a:pPr/>
            <a:r>
              <a:rPr sz="1800">
                <a:latin typeface="Times New Roman"/>
              </a:rPr>
              <a:t>RAG index: built from train.csv only (695 docs) — prevents test leakage</a:t>
            </a:r>
          </a:p>
          <a:p>
            <a:pPr/>
            <a:r>
              <a:rPr sz="1800">
                <a:latin typeface="Times New Roman"/>
              </a:rPr>
              <a:t>Dual thresholds: classifier confidence ≥ 0.50 AND RAG similarity ≥ 0.40</a:t>
            </a:r>
          </a:p>
          <a:p>
            <a:pPr/>
            <a:r>
              <a:rPr sz="1800">
                <a:latin typeface="Times New Roman"/>
              </a:rPr>
              <a:t>Database: SQLite stores tickets, decisions, confidence, classifier model used.</a:t>
            </a:r>
          </a:p>
          <a:p>
            <a:pPr/>
            <a:r>
              <a:rPr sz="1800">
                <a:latin typeface="Times New Roman"/>
              </a:rPr>
              <a:t>Portals: Employee (submit), Agent (escalated queue), Admin (analytics).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/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Data pipeline: generate → validate → split → augment edge cases.</a:t>
            </a:r>
          </a:p>
          <a:p>
            <a:pPr/>
            <a:r>
              <a:rPr sz="1800">
                <a:latin typeface="Times New Roman"/>
              </a:rPr>
              <a:t>Trained 4 classifiers; deployed LogReg + SetFit in live API.</a:t>
            </a:r>
          </a:p>
          <a:p>
            <a:pPr/>
            <a:r>
              <a:rPr sz="1800">
                <a:latin typeface="Times New Roman"/>
              </a:rPr>
              <a:t>Built Chroma vector store; fixed leakage (verify_rag_no_leakage.py).</a:t>
            </a:r>
          </a:p>
          <a:p>
            <a:pPr/>
            <a:r>
              <a:rPr sz="1800">
                <a:latin typeface="Times New Roman"/>
              </a:rPr>
              <a:t>Implemented LangGraph agent in api/agent.py.</a:t>
            </a:r>
          </a:p>
          <a:p>
            <a:pPr/>
            <a:r>
              <a:rPr sz="1800">
                <a:latin typeface="Times New Roman"/>
              </a:rPr>
              <a:t>FastAPI endpoints: submit-ticket, agent queue, analytics, classifiers.</a:t>
            </a:r>
          </a:p>
          <a:p>
            <a:pPr/>
            <a:r>
              <a:rPr sz="1800">
                <a:latin typeface="Times New Roman"/>
              </a:rPr>
              <a:t>Frontend: login, employee model picker, agent dashboard, admin metrics.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Unit smoke test: test_single_ticket.py (both LogReg and SetFit).</a:t>
            </a:r>
          </a:p>
          <a:p>
            <a:pPr/>
            <a:r>
              <a:rPr sz="1800">
                <a:latin typeface="Times New Roman"/>
              </a:rPr>
              <a:t>Model evaluation: compare_models.py, 5-fold CV, held-out eval set.</a:t>
            </a:r>
          </a:p>
          <a:p>
            <a:pPr/>
            <a:r>
              <a:rPr sz="1800">
                <a:latin typeface="Times New Roman"/>
              </a:rPr>
              <a:t>Calibration study: reliability diagram — model is underconfident.</a:t>
            </a:r>
          </a:p>
          <a:p>
            <a:pPr/>
            <a:r>
              <a:rPr sz="1800">
                <a:latin typeface="Times New Roman"/>
              </a:rPr>
              <a:t>Error analysis: confusion matrix; errors on adjacent categories.</a:t>
            </a:r>
          </a:p>
          <a:p>
            <a:pPr/>
            <a:r>
              <a:rPr sz="1800">
                <a:latin typeface="Times New Roman"/>
              </a:rPr>
              <a:t>RAG verification: no exact memorization of test tickets (similarity ~0.22).</a:t>
            </a:r>
          </a:p>
          <a:p>
            <a:pPr/>
            <a:r>
              <a:rPr sz="1800">
                <a:latin typeface="Times New Roman"/>
              </a:rPr>
              <a:t>Integration: live API tested on http://127.0.0.1:8000/app/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Working end-to-end prototype with web UI and dual classifier support.</a:t>
            </a:r>
          </a:p>
          <a:p>
            <a:pPr/>
            <a:r>
              <a:rPr sz="1800">
                <a:latin typeface="Times New Roman"/>
              </a:rPr>
              <a:t>Test accuracy: TF-IDF+NB 65.3% | LogReg 70.0% | SVM 70.0% | SetFit 70.7%</a:t>
            </a:r>
          </a:p>
          <a:p>
            <a:pPr/>
            <a:r>
              <a:rPr sz="1800">
                <a:latin typeface="Times New Roman"/>
              </a:rPr>
              <a:t>5-fold CV: 73.4% ± 0.96% accuracy (stable across folds).</a:t>
            </a:r>
          </a:p>
          <a:p>
            <a:pPr/>
            <a:r>
              <a:rPr sz="1800">
                <a:latin typeface="Times New Roman"/>
              </a:rPr>
              <a:t>Held-out eval: 67.2% accuracy (good generalization).</a:t>
            </a:r>
          </a:p>
          <a:p>
            <a:pPr/>
            <a:r>
              <a:rPr sz="1800">
                <a:latin typeface="Times New Roman"/>
              </a:rPr>
              <a:t>Confidence calibration supports safe escalation strategy.</a:t>
            </a:r>
          </a:p>
          <a:p>
            <a:pPr/>
            <a:r>
              <a:rPr sz="1800">
                <a:latin typeface="Times New Roman"/>
              </a:rPr>
              <a:t>RAG leakage identified and fixed — reproducible verification script.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Successfully built an AI ticket routing agent combining NLP, RAG, and agentic logic.</a:t>
            </a:r>
          </a:p>
          <a:p>
            <a:pPr/>
            <a:r>
              <a:rPr sz="1800">
                <a:latin typeface="Times New Roman"/>
              </a:rPr>
              <a:t>Embedding-based classifiers outperform TF-IDF baseline by ~4.7 F1 points.</a:t>
            </a:r>
          </a:p>
          <a:p>
            <a:pPr/>
            <a:r>
              <a:rPr sz="1800">
                <a:latin typeface="Times New Roman"/>
              </a:rPr>
              <a:t>Dual-threshold escalation reduces risk of wrong auto-resolution.</a:t>
            </a:r>
          </a:p>
          <a:p>
            <a:pPr/>
            <a:r>
              <a:rPr sz="1800">
                <a:latin typeface="Times New Roman"/>
              </a:rPr>
              <a:t>SetFit shows promise but needs larger dataset (4k–5k scale-up planned).</a:t>
            </a:r>
          </a:p>
          <a:p>
            <a:pPr/>
            <a:r>
              <a:rPr sz="1800">
                <a:latin typeface="Times New Roman"/>
              </a:rPr>
              <a:t>Future: feedback loop, conformal prediction, production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1. Reimers &amp; Gurevych — Sentence-BERT (2019)</a:t>
            </a:r>
          </a:p>
          <a:p>
            <a:pPr/>
            <a:r>
              <a:rPr sz="1800">
                <a:latin typeface="Times New Roman"/>
              </a:rPr>
              <a:t>2. Tunstall et al. — SetFit: Efficient Few-Shot Learning (2022)</a:t>
            </a:r>
          </a:p>
          <a:p>
            <a:pPr/>
            <a:r>
              <a:rPr sz="1800">
                <a:latin typeface="Times New Roman"/>
              </a:rPr>
              <a:t>3. Lewis et al. — Retrieval-Augmented Generation (2020)</a:t>
            </a:r>
          </a:p>
          <a:p>
            <a:pPr/>
            <a:r>
              <a:rPr sz="1800">
                <a:latin typeface="Times New Roman"/>
              </a:rPr>
              <a:t>4. NASSCOM — AI Powered Intelligent Ticket Routing Use Case</a:t>
            </a:r>
          </a:p>
          <a:p>
            <a:pPr/>
            <a:r>
              <a:rPr sz="1800">
                <a:latin typeface="Times New Roman"/>
              </a:rPr>
              <a:t>5. scikit-learn, HuggingFace Transformers, LangChain, LangGraph documentation</a:t>
            </a:r>
          </a:p>
          <a:p>
            <a:pPr/>
            <a:r>
              <a:rPr sz="1800">
                <a:latin typeface="Times New Roman"/>
              </a:rPr>
              <a:t>6. Kaggle IT Support Ticket datasets (reference validation)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Photograph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[Insert photograph of the presentation here]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To be added after due permission from the guide.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Date: _______________</a:t>
            </a:r>
          </a:p>
          <a:p>
            <a:pPr/>
            <a:r>
              <a:rPr sz="1800">
                <a:latin typeface="Times New Roman"/>
              </a:rPr>
              <a:t>Venue: Department of AIML — Second Presentation (CA-3)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LogReg vs SetFit — Classifier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3108960"/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t>SetFit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Frozen MiniLM + linear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Contrastive fine-tuned MiniLM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Val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73.15%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79.87%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70.00%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70.67%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Holdout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67.23%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62.18%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Val→Test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3.15 pts (stable)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9.20 pts (overfits)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Avg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0.53 (underconfident)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0.86 (overconfident)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Model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0.01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87.36 MB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~2–5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~60–75 min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~12.6 ms/ticket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~12.5 ms/ticket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Best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Database, Application,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Access, Infrastructure, Network, Security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Default for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t>Research; needs larger dataset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